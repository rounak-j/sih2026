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1"/>
  </p:sldMasterIdLst>
  <p:notesMasterIdLst>
    <p:notesMasterId r:id="rId8"/>
  </p:notesMasterIdLst>
  <p:sldIdLst>
    <p:sldId id="291" r:id="rId2"/>
    <p:sldId id="300" r:id="rId3"/>
    <p:sldId id="303" r:id="rId4"/>
    <p:sldId id="293" r:id="rId5"/>
    <p:sldId id="294" r:id="rId6"/>
    <p:sldId id="296" r:id="rId7"/>
  </p:sldIdLst>
  <p:sldSz cx="12192000" cy="6858000"/>
  <p:notesSz cx="6858000" cy="9144000"/>
  <p:embeddedFontLst>
    <p:embeddedFont>
      <p:font typeface="ＭＳ Ｐゴシック" panose="020B0600070205080204" pitchFamily="34" charset="-128"/>
      <p:regular r:id="rId9"/>
    </p:embeddedFont>
    <p:embeddedFont>
      <p:font typeface="Big Shoulders Black" pitchFamily="2" charset="0"/>
      <p:bold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Black" panose="02000000000000000000" pitchFamily="2" charset="0"/>
      <p:bold r:id="rId15"/>
      <p:boldItalic r:id="rId16"/>
    </p:embeddedFont>
    <p:embeddedFont>
      <p:font typeface="Roboto Medium" panose="02000000000000000000" pitchFamily="2" charset="0"/>
      <p:regular r:id="rId17"/>
      <p:italic r:id="rId18"/>
    </p:embeddedFont>
  </p:embeddedFont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5A9A"/>
    <a:srgbClr val="010000"/>
    <a:srgbClr val="820000"/>
    <a:srgbClr val="456A20"/>
    <a:srgbClr val="669C30"/>
    <a:srgbClr val="84C545"/>
    <a:srgbClr val="9BBB59"/>
    <a:srgbClr val="39B0D4"/>
    <a:srgbClr val="727272"/>
    <a:srgbClr val="FFA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1B893-C739-55B1-B7D9-74FA7A365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BA9F890A-8ABE-9A7D-3616-3C448EDEB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C375AB7E-D2F9-ABBC-584B-7A836EDF0A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EC7488BD-6282-9644-3FA6-94B8D48CDB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830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AEAE4-B8E5-CDDC-947E-6A79A4602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21A390FB-EAB9-496E-32CF-287CDBB4A9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19B01F92-BFF1-99FD-4710-DD821563232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69D94716-7CD7-4C65-48FB-FA88219F67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757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bfuscator-llvm/obfuscator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github.com/Yuerino/obfuscator-pass" TargetMode="External"/><Relationship Id="rId4" Type="http://schemas.openxmlformats.org/officeDocument/2006/relationships/hyperlink" Target="https://github.com/wwh1004/ollvm-16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4331951" y="760227"/>
            <a:ext cx="2649658" cy="576324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Big Shoulders Black" pitchFamily="2" charset="0"/>
                <a:ea typeface="Roboto Black" panose="02000000000000000000" pitchFamily="2" charset="0"/>
              </a:rPr>
              <a:t>TITLE PAGE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  <a:latin typeface="Big Shoulders Black" pitchFamily="2" charset="0"/>
              <a:ea typeface="Roboto Black" panose="02000000000000000000" pitchFamily="2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44526" y="261673"/>
            <a:ext cx="8276686" cy="576324"/>
          </a:xfrm>
        </p:spPr>
        <p:txBody>
          <a:bodyPr/>
          <a:lstStyle/>
          <a:p>
            <a:r>
              <a:rPr lang="en-US" spc="300" dirty="0">
                <a:solidFill>
                  <a:schemeClr val="tx2"/>
                </a:solidFill>
                <a:latin typeface="Big Shoulders Black" pitchFamily="2" charset="0"/>
                <a:ea typeface="Roboto Black" panose="02000000000000000000" pitchFamily="2" charset="0"/>
              </a:rPr>
              <a:t>SMART </a:t>
            </a:r>
            <a:r>
              <a:rPr lang="en-US" b="1" spc="300" dirty="0">
                <a:solidFill>
                  <a:schemeClr val="tx2"/>
                </a:solidFill>
                <a:latin typeface="Big Shoulders Black" pitchFamily="2" charset="0"/>
                <a:ea typeface="Roboto Black" panose="02000000000000000000" pitchFamily="2" charset="0"/>
              </a:rPr>
              <a:t>INDIA</a:t>
            </a:r>
            <a:r>
              <a:rPr lang="en-US" spc="300" dirty="0">
                <a:solidFill>
                  <a:schemeClr val="tx2"/>
                </a:solidFill>
                <a:latin typeface="Big Shoulders Black" pitchFamily="2" charset="0"/>
                <a:ea typeface="Roboto Black" panose="02000000000000000000" pitchFamily="2" charset="0"/>
              </a:rPr>
              <a:t> HACKATHON 2025</a:t>
            </a:r>
            <a:endParaRPr lang="en-IN" spc="300" dirty="0">
              <a:solidFill>
                <a:schemeClr val="tx2"/>
              </a:solidFill>
              <a:latin typeface="Big Shoulders Black" pitchFamily="2" charset="0"/>
              <a:ea typeface="Roboto Black" panose="02000000000000000000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4007" y="1663306"/>
            <a:ext cx="6854891" cy="4815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kern="2000" dirty="0">
                <a:solidFill>
                  <a:schemeClr val="tx1">
                    <a:lumMod val="75000"/>
                    <a:lumOff val="25000"/>
                  </a:schemeClr>
                </a:solidFill>
                <a:latin typeface="Big Shoulders Black" pitchFamily="2" charset="0"/>
                <a:ea typeface="Roboto" panose="02000000000000000000" pitchFamily="2" charset="0"/>
                <a:cs typeface="Segoe UI" panose="020B0502040204020203" pitchFamily="34" charset="0"/>
              </a:rPr>
              <a:t>Problem Statement ID:</a:t>
            </a:r>
            <a:r>
              <a:rPr lang="en-US" sz="2600" kern="2000" dirty="0">
                <a:latin typeface="Big Shoulders Black" pitchFamily="2" charset="0"/>
                <a:ea typeface="Roboto" panose="02000000000000000000" pitchFamily="2" charset="0"/>
                <a:cs typeface="Segoe UI" panose="020B0502040204020203" pitchFamily="34" charset="0"/>
              </a:rPr>
              <a:t> </a:t>
            </a:r>
            <a:r>
              <a:rPr lang="en-US" sz="2600" kern="2000" dirty="0">
                <a:latin typeface="Big Shoulders Black" pitchFamily="2" charset="0"/>
                <a:ea typeface="Roboto Medium" panose="02000000000000000000" pitchFamily="2" charset="0"/>
                <a:cs typeface="Segoe UI" panose="020B0502040204020203" pitchFamily="34" charset="0"/>
              </a:rPr>
              <a:t>25236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kern="2000" dirty="0">
                <a:solidFill>
                  <a:schemeClr val="tx1">
                    <a:lumMod val="75000"/>
                    <a:lumOff val="25000"/>
                  </a:schemeClr>
                </a:solidFill>
                <a:latin typeface="Big Shoulders Black" pitchFamily="2" charset="0"/>
                <a:ea typeface="Roboto" panose="02000000000000000000" pitchFamily="2" charset="0"/>
                <a:cs typeface="Segoe UI" panose="020B0502040204020203" pitchFamily="34" charset="0"/>
              </a:rPr>
              <a:t>Problem Statement Title: </a:t>
            </a:r>
            <a:r>
              <a:rPr lang="en-US" sz="2600" kern="2000" dirty="0">
                <a:latin typeface="Big Shoulders Black" pitchFamily="2" charset="0"/>
                <a:ea typeface="Roboto Medium" panose="02000000000000000000" pitchFamily="2" charset="0"/>
                <a:cs typeface="Segoe UI" panose="020B0502040204020203" pitchFamily="34" charset="0"/>
              </a:rPr>
              <a:t>Application </a:t>
            </a:r>
            <a:br>
              <a:rPr lang="en-US" sz="2600" kern="2000" dirty="0">
                <a:latin typeface="Big Shoulders Black" pitchFamily="2" charset="0"/>
                <a:ea typeface="Roboto Medium" panose="02000000000000000000" pitchFamily="2" charset="0"/>
                <a:cs typeface="Segoe UI" panose="020B0502040204020203" pitchFamily="34" charset="0"/>
              </a:rPr>
            </a:br>
            <a:r>
              <a:rPr lang="en-US" sz="2600" kern="2000" dirty="0">
                <a:latin typeface="Big Shoulders Black" pitchFamily="2" charset="0"/>
                <a:ea typeface="Roboto Medium" panose="02000000000000000000" pitchFamily="2" charset="0"/>
                <a:cs typeface="Segoe UI" panose="020B0502040204020203" pitchFamily="34" charset="0"/>
              </a:rPr>
              <a:t>software to obfuscate the object file </a:t>
            </a:r>
            <a:br>
              <a:rPr lang="en-US" sz="2600" kern="2000" dirty="0">
                <a:latin typeface="Big Shoulders Black" pitchFamily="2" charset="0"/>
                <a:ea typeface="Roboto Medium" panose="02000000000000000000" pitchFamily="2" charset="0"/>
                <a:cs typeface="Segoe UI" panose="020B0502040204020203" pitchFamily="34" charset="0"/>
              </a:rPr>
            </a:br>
            <a:r>
              <a:rPr lang="en-US" sz="2600" kern="2000" dirty="0">
                <a:latin typeface="Big Shoulders Black" pitchFamily="2" charset="0"/>
                <a:ea typeface="Roboto Medium" panose="02000000000000000000" pitchFamily="2" charset="0"/>
                <a:cs typeface="Segoe UI" panose="020B0502040204020203" pitchFamily="34" charset="0"/>
              </a:rPr>
              <a:t>using Low Level Virtual Machine (LLVM)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kern="2000" dirty="0">
                <a:solidFill>
                  <a:schemeClr val="tx1">
                    <a:lumMod val="75000"/>
                    <a:lumOff val="25000"/>
                  </a:schemeClr>
                </a:solidFill>
                <a:latin typeface="Big Shoulders Black" pitchFamily="2" charset="0"/>
                <a:ea typeface="Roboto" panose="02000000000000000000" pitchFamily="2" charset="0"/>
                <a:cs typeface="Segoe UI" panose="020B0502040204020203" pitchFamily="34" charset="0"/>
              </a:rPr>
              <a:t>Theme: </a:t>
            </a:r>
            <a:r>
              <a:rPr lang="en-US" sz="2600" kern="2000" dirty="0">
                <a:latin typeface="Big Shoulders Black" pitchFamily="2" charset="0"/>
                <a:ea typeface="Roboto Medium" panose="02000000000000000000" pitchFamily="2" charset="0"/>
                <a:cs typeface="Segoe UI" panose="020B0502040204020203" pitchFamily="34" charset="0"/>
              </a:rPr>
              <a:t>Blockchain &amp; Cybersecurity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kern="2000" dirty="0">
                <a:solidFill>
                  <a:schemeClr val="tx1">
                    <a:lumMod val="75000"/>
                    <a:lumOff val="25000"/>
                  </a:schemeClr>
                </a:solidFill>
                <a:latin typeface="Big Shoulders Black" pitchFamily="2" charset="0"/>
                <a:ea typeface="Roboto" panose="02000000000000000000" pitchFamily="2" charset="0"/>
                <a:cs typeface="Segoe UI" panose="020B0502040204020203" pitchFamily="34" charset="0"/>
              </a:rPr>
              <a:t>PS Category: </a:t>
            </a:r>
            <a:r>
              <a:rPr lang="en-US" sz="2600" kern="2000" dirty="0">
                <a:latin typeface="Big Shoulders Black" pitchFamily="2" charset="0"/>
                <a:ea typeface="Roboto Medium" panose="02000000000000000000" pitchFamily="2" charset="0"/>
                <a:cs typeface="Segoe UI" panose="020B0502040204020203" pitchFamily="34" charset="0"/>
              </a:rPr>
              <a:t>Software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kern="2000" dirty="0">
                <a:solidFill>
                  <a:schemeClr val="tx1">
                    <a:lumMod val="75000"/>
                    <a:lumOff val="25000"/>
                  </a:schemeClr>
                </a:solidFill>
                <a:latin typeface="Big Shoulders Black" pitchFamily="2" charset="0"/>
                <a:ea typeface="Roboto" panose="02000000000000000000" pitchFamily="2" charset="0"/>
                <a:cs typeface="Segoe UI" panose="020B0502040204020203" pitchFamily="34" charset="0"/>
              </a:rPr>
              <a:t>Team ID: </a:t>
            </a:r>
            <a:r>
              <a:rPr lang="en-IN" sz="2600" kern="2000" dirty="0">
                <a:latin typeface="Big Shoulders Black" pitchFamily="2" charset="0"/>
                <a:ea typeface="Roboto Medium" panose="02000000000000000000" pitchFamily="2" charset="0"/>
                <a:cs typeface="Segoe UI" panose="020B0502040204020203" pitchFamily="34" charset="0"/>
              </a:rPr>
              <a:t>56745</a:t>
            </a:r>
            <a:endParaRPr lang="en-US" sz="2600" kern="2000" dirty="0">
              <a:latin typeface="Big Shoulders Black" pitchFamily="2" charset="0"/>
              <a:ea typeface="Roboto Medium" panose="02000000000000000000" pitchFamily="2" charset="0"/>
              <a:cs typeface="Segoe UI" panose="020B0502040204020203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kern="2000" dirty="0">
                <a:solidFill>
                  <a:schemeClr val="tx1">
                    <a:lumMod val="75000"/>
                    <a:lumOff val="25000"/>
                  </a:schemeClr>
                </a:solidFill>
                <a:latin typeface="Big Shoulders Black" pitchFamily="2" charset="0"/>
                <a:ea typeface="Roboto" panose="02000000000000000000" pitchFamily="2" charset="0"/>
                <a:cs typeface="Segoe UI" panose="020B0502040204020203" pitchFamily="34" charset="0"/>
              </a:rPr>
              <a:t>Team Name: </a:t>
            </a:r>
            <a:r>
              <a:rPr lang="en-US" sz="2600" kern="2000" dirty="0">
                <a:latin typeface="Big Shoulders Black" pitchFamily="2" charset="0"/>
                <a:ea typeface="Roboto Medium" panose="02000000000000000000" pitchFamily="2" charset="0"/>
                <a:cs typeface="Segoe UI" panose="020B0502040204020203" pitchFamily="34" charset="0"/>
              </a:rPr>
              <a:t>GENOMIKS</a:t>
            </a:r>
            <a:endParaRPr lang="en-IN" sz="2600" kern="2000" dirty="0">
              <a:latin typeface="Big Shoulders Black" pitchFamily="2" charset="0"/>
              <a:ea typeface="Roboto Medium" panose="02000000000000000000" pitchFamily="2" charset="0"/>
              <a:cs typeface="Segoe UI" panose="020B0502040204020203" pitchFamily="34" charset="0"/>
            </a:endParaRPr>
          </a:p>
        </p:txBody>
      </p:sp>
      <p:pic>
        <p:nvPicPr>
          <p:cNvPr id="2" name="Picture 2" descr="https://www.sih.gov.in/img1/SIH-Logo.png">
            <a:extLst>
              <a:ext uri="{FF2B5EF4-FFF2-40B4-BE49-F238E27FC236}">
                <a16:creationId xmlns:a16="http://schemas.microsoft.com/office/drawing/2014/main" id="{E9485800-BD01-7EDA-24BE-1D4C45FE5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8071" y="-26929"/>
            <a:ext cx="1939922" cy="98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91582-A2DB-BE55-5A87-B2E7059C6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E33C44F-ED6D-331A-F3E4-FF0A0655A2C4}"/>
              </a:ext>
            </a:extLst>
          </p:cNvPr>
          <p:cNvSpPr/>
          <p:nvPr/>
        </p:nvSpPr>
        <p:spPr>
          <a:xfrm>
            <a:off x="4456849" y="1070541"/>
            <a:ext cx="7615091" cy="5134973"/>
          </a:xfrm>
          <a:prstGeom prst="roundRect">
            <a:avLst>
              <a:gd name="adj" fmla="val 3608"/>
            </a:avLst>
          </a:prstGeom>
          <a:ln>
            <a:solidFill>
              <a:schemeClr val="tx2">
                <a:lumMod val="20000"/>
                <a:lumOff val="8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4AF3E56-7777-AC2C-B893-D7CAC3774C3F}"/>
              </a:ext>
            </a:extLst>
          </p:cNvPr>
          <p:cNvSpPr/>
          <p:nvPr/>
        </p:nvSpPr>
        <p:spPr>
          <a:xfrm>
            <a:off x="6822440" y="1157774"/>
            <a:ext cx="2806192" cy="309239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Our Proposed Solution</a:t>
            </a:r>
            <a:endParaRPr lang="en-IN" sz="20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542A6C-6088-5CA4-423D-02F71BAB3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5361" name="Title 1">
            <a:extLst>
              <a:ext uri="{FF2B5EF4-FFF2-40B4-BE49-F238E27FC236}">
                <a16:creationId xmlns:a16="http://schemas.microsoft.com/office/drawing/2014/main" id="{8E0388A1-A919-B68D-A808-E64371628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004" y="96755"/>
            <a:ext cx="8677062" cy="888440"/>
          </a:xfrm>
        </p:spPr>
        <p:txBody>
          <a:bodyPr/>
          <a:lstStyle/>
          <a:p>
            <a:pPr eaLnBrk="1" hangingPunct="1"/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Times New Roman" panose="02020603050405020304" pitchFamily="18" charset="0"/>
              </a:rPr>
              <a:t>APPLICATION SOFTWARE TO OBFUSCATE THE OBJECT </a:t>
            </a:r>
            <a:br>
              <a:rPr lang="en-US" sz="2400" dirty="0">
                <a:solidFill>
                  <a:schemeClr val="tx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Times New Roman" panose="02020603050405020304" pitchFamily="18" charset="0"/>
              </a:rPr>
              <a:t>FILE USING LOW LEVEL VIRTUAL MACHINE (LLVM)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5D05B-7B02-5C7F-3D28-0003BEAC0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/>
              <a:t>2</a:t>
            </a:fld>
            <a:endParaRPr lang="en-US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D45E5C6-EE44-6F28-CC2A-59F7FDBD5517}"/>
              </a:ext>
            </a:extLst>
          </p:cNvPr>
          <p:cNvGrpSpPr/>
          <p:nvPr/>
        </p:nvGrpSpPr>
        <p:grpSpPr>
          <a:xfrm>
            <a:off x="132199" y="1070535"/>
            <a:ext cx="4462742" cy="2599801"/>
            <a:chOff x="132199" y="1245637"/>
            <a:chExt cx="4462742" cy="259980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6B8510C-172F-C4E1-1584-E50B9083FBC4}"/>
                </a:ext>
              </a:extLst>
            </p:cNvPr>
            <p:cNvSpPr/>
            <p:nvPr/>
          </p:nvSpPr>
          <p:spPr>
            <a:xfrm>
              <a:off x="132199" y="1245637"/>
              <a:ext cx="4231212" cy="2599801"/>
            </a:xfrm>
            <a:prstGeom prst="roundRect">
              <a:avLst>
                <a:gd name="adj" fmla="val 3067"/>
              </a:avLst>
            </a:prstGeom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E83B9204-0660-0F8A-032A-C34ADBAA0E2D}"/>
                </a:ext>
              </a:extLst>
            </p:cNvPr>
            <p:cNvSpPr/>
            <p:nvPr/>
          </p:nvSpPr>
          <p:spPr>
            <a:xfrm>
              <a:off x="174803" y="1283738"/>
              <a:ext cx="1168081" cy="349786"/>
            </a:xfrm>
            <a:prstGeom prst="roundRect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Calibri" panose="020F0502020204030204" pitchFamily="34" charset="0"/>
                </a:rPr>
                <a:t>Our Idea:</a:t>
              </a:r>
              <a:endParaRPr lang="en-IN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87C8476-9FF5-8924-4AAF-819169A2E871}"/>
                </a:ext>
              </a:extLst>
            </p:cNvPr>
            <p:cNvGrpSpPr/>
            <p:nvPr/>
          </p:nvGrpSpPr>
          <p:grpSpPr>
            <a:xfrm>
              <a:off x="157265" y="1589956"/>
              <a:ext cx="4437676" cy="2177194"/>
              <a:chOff x="238609" y="1022022"/>
              <a:chExt cx="4437676" cy="2177194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5C652A-F198-945F-57FB-0E6E73CDD59E}"/>
                  </a:ext>
                </a:extLst>
              </p:cNvPr>
              <p:cNvSpPr txBox="1"/>
              <p:nvPr/>
            </p:nvSpPr>
            <p:spPr>
              <a:xfrm>
                <a:off x="238609" y="1022022"/>
                <a:ext cx="4437676" cy="1123712"/>
              </a:xfrm>
              <a:prstGeom prst="round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500" dirty="0">
                    <a:latin typeface="Roboto" panose="02000000000000000000" pitchFamily="2" charset="0"/>
                    <a:ea typeface="Roboto" panose="02000000000000000000" pitchFamily="2" charset="0"/>
                  </a:rPr>
                  <a:t>Our idea is to create an </a:t>
                </a:r>
                <a:r>
                  <a:rPr lang="en-IN" sz="1500" b="1" dirty="0">
                    <a:latin typeface="Roboto" panose="02000000000000000000" pitchFamily="2" charset="0"/>
                    <a:ea typeface="Roboto" panose="02000000000000000000" pitchFamily="2" charset="0"/>
                  </a:rPr>
                  <a:t>LLVM-based software obfuscation tool</a:t>
                </a:r>
                <a:r>
                  <a:rPr lang="en-IN" sz="1500" dirty="0">
                    <a:latin typeface="Roboto" panose="02000000000000000000" pitchFamily="2" charset="0"/>
                    <a:ea typeface="Roboto" panose="02000000000000000000" pitchFamily="2" charset="0"/>
                  </a:rPr>
                  <a:t> that protects object files and executables from reverse engineering without compromising performance.</a:t>
                </a:r>
              </a:p>
            </p:txBody>
          </p: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A4BD85AA-4ABA-3A86-5A11-9B0C363625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52" r="-110"/>
              <a:stretch>
                <a:fillRect/>
              </a:stretch>
            </p:blipFill>
            <p:spPr>
              <a:xfrm>
                <a:off x="299321" y="2102166"/>
                <a:ext cx="4064464" cy="1097050"/>
              </a:xfrm>
              <a:prstGeom prst="roundRect">
                <a:avLst/>
              </a:prstGeom>
            </p:spPr>
          </p:pic>
        </p:grpSp>
      </p:grp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32EB126-F229-C41E-FB6F-187F75F0D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134820"/>
              </p:ext>
            </p:extLst>
          </p:nvPr>
        </p:nvGraphicFramePr>
        <p:xfrm>
          <a:off x="4777601" y="1616260"/>
          <a:ext cx="6973585" cy="21216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73585">
                  <a:extLst>
                    <a:ext uri="{9D8B030D-6E8A-4147-A177-3AD203B41FA5}">
                      <a16:colId xmlns:a16="http://schemas.microsoft.com/office/drawing/2014/main" val="865149083"/>
                    </a:ext>
                  </a:extLst>
                </a:gridCol>
              </a:tblGrid>
              <a:tr h="93296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dirty="0">
                          <a:latin typeface="Roboto Medium" panose="02000000000000000000" pitchFamily="2" charset="0"/>
                          <a:ea typeface="Roboto Medium" panose="02000000000000000000" pitchFamily="2" charset="0"/>
                        </a:rPr>
                        <a:t>1. </a:t>
                      </a: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+mn-cs"/>
                        </a:rPr>
                        <a:t>Comprehensive Obfuscation:</a:t>
                      </a:r>
                    </a:p>
                    <a:p>
                      <a:pPr marL="0" lvl="0" algn="l" defTabSz="457200" rtl="0" eaLnBrk="1" latinLnBrk="0" hangingPunct="1"/>
                      <a:r>
                        <a:rPr lang="en-IN" sz="18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We offer a tool that applies transformations like string encryption and control-flow flattening at the LLVM IR level to protect code.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57447"/>
                  </a:ext>
                </a:extLst>
              </a:tr>
              <a:tr h="93296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+mn-cs"/>
                        </a:rPr>
                        <a:t>2. </a:t>
                      </a:r>
                      <a:r>
                        <a:rPr lang="en-IN" sz="1800" b="0" kern="1200" dirty="0">
                          <a:solidFill>
                            <a:schemeClr val="tx1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+mn-cs"/>
                        </a:rPr>
                        <a:t>Customized and Optimized Protection: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+mn-cs"/>
                        </a:rPr>
                        <a:t>             </a:t>
                      </a:r>
                      <a:endParaRPr lang="en-IN" sz="1800" b="0" kern="1200" dirty="0">
                        <a:solidFill>
                          <a:schemeClr val="tx1"/>
                        </a:solidFill>
                        <a:latin typeface="Roboto Medium" panose="02000000000000000000" pitchFamily="2" charset="0"/>
                        <a:ea typeface="Roboto Medium" panose="02000000000000000000" pitchFamily="2" charset="0"/>
                        <a:cs typeface="+mn-cs"/>
                      </a:endParaRPr>
                    </a:p>
                    <a:p>
                      <a:pPr lvl="0"/>
                      <a:r>
                        <a:rPr lang="en-IN" sz="18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The tool uses profile-guided obfuscation to target critical code, and its configurable pipeline allows you to balance security and performance.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2325812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FBFC2F7B-9E74-0917-B9FD-F167E9D3CF1F}"/>
              </a:ext>
            </a:extLst>
          </p:cNvPr>
          <p:cNvGrpSpPr/>
          <p:nvPr/>
        </p:nvGrpSpPr>
        <p:grpSpPr>
          <a:xfrm>
            <a:off x="132199" y="3764989"/>
            <a:ext cx="4231212" cy="2440523"/>
            <a:chOff x="132199" y="4245905"/>
            <a:chExt cx="4231212" cy="2385929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0EC7176-D904-15AB-940A-E85CF84615FC}"/>
                </a:ext>
              </a:extLst>
            </p:cNvPr>
            <p:cNvSpPr/>
            <p:nvPr/>
          </p:nvSpPr>
          <p:spPr>
            <a:xfrm>
              <a:off x="132199" y="4245905"/>
              <a:ext cx="4231212" cy="2385929"/>
            </a:xfrm>
            <a:prstGeom prst="roundRect">
              <a:avLst>
                <a:gd name="adj" fmla="val 7175"/>
              </a:avLst>
            </a:prstGeom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80B49548-635E-B0F8-EB58-AEA0749593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30195" y="4779777"/>
              <a:ext cx="1375541" cy="1371554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EA80AE4-E97C-9914-9E02-05DA6656DA15}"/>
                </a:ext>
              </a:extLst>
            </p:cNvPr>
            <p:cNvSpPr txBox="1"/>
            <p:nvPr/>
          </p:nvSpPr>
          <p:spPr>
            <a:xfrm>
              <a:off x="214008" y="4726775"/>
              <a:ext cx="2616188" cy="18890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  <a:tabLst>
                  <a:tab pos="457200" algn="l"/>
                </a:tabLst>
              </a:pPr>
              <a:r>
                <a:rPr lang="en-IN" sz="1500" kern="100" dirty="0">
                  <a:latin typeface="Roboto" panose="02000000000000000000" pitchFamily="2" charset="0"/>
                  <a:ea typeface="Roboto" panose="02000000000000000000" pitchFamily="2" charset="0"/>
                  <a:cs typeface="Times New Roman" panose="02020603050405020304" pitchFamily="18" charset="0"/>
                </a:rPr>
                <a:t>It introduces adaptive LLVM passes, a debug-friendly reversible mode, and quantitative resilience metrics for a transparent and ethical approach to code security.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BD5D3A4-650A-D48A-CEFD-EB2F8F6D2C8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179"/>
          <a:stretch>
            <a:fillRect/>
          </a:stretch>
        </p:blipFill>
        <p:spPr>
          <a:xfrm>
            <a:off x="4494351" y="3921531"/>
            <a:ext cx="7615091" cy="1949026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50AB6D1-E3FF-2449-93BF-1199CECF7D5D}"/>
              </a:ext>
            </a:extLst>
          </p:cNvPr>
          <p:cNvSpPr/>
          <p:nvPr/>
        </p:nvSpPr>
        <p:spPr>
          <a:xfrm>
            <a:off x="263139" y="3869339"/>
            <a:ext cx="2457043" cy="327023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b="1" kern="1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How its Innovative? </a:t>
            </a:r>
            <a:endParaRPr lang="en-IN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B7E57C9-64B8-AA69-B8BA-B70C2D311AE5}"/>
              </a:ext>
            </a:extLst>
          </p:cNvPr>
          <p:cNvGrpSpPr/>
          <p:nvPr/>
        </p:nvGrpSpPr>
        <p:grpSpPr>
          <a:xfrm>
            <a:off x="77506" y="87441"/>
            <a:ext cx="1897493" cy="553158"/>
            <a:chOff x="329773" y="252246"/>
            <a:chExt cx="1897493" cy="553158"/>
          </a:xfrm>
        </p:grpSpPr>
        <p:sp>
          <p:nvSpPr>
            <p:cNvPr id="15" name="Oval 14" descr="Your startup LOGO">
              <a:extLst>
                <a:ext uri="{FF2B5EF4-FFF2-40B4-BE49-F238E27FC236}">
                  <a16:creationId xmlns:a16="http://schemas.microsoft.com/office/drawing/2014/main" id="{4B7E96F3-558D-1475-D196-A909321D7A8D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329773" y="252246"/>
              <a:ext cx="1897493" cy="55315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00CFDD5-7322-6642-3035-E186F978782A}"/>
                </a:ext>
              </a:extLst>
            </p:cNvPr>
            <p:cNvSpPr txBox="1"/>
            <p:nvPr/>
          </p:nvSpPr>
          <p:spPr>
            <a:xfrm>
              <a:off x="466274" y="281708"/>
              <a:ext cx="1630360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IN" sz="2600" b="1" dirty="0">
                  <a:solidFill>
                    <a:schemeClr val="tx2">
                      <a:lumMod val="75000"/>
                    </a:schemeClr>
                  </a:solidFill>
                  <a:latin typeface="Big Shoulders Black" pitchFamily="2" charset="0"/>
                  <a:ea typeface="Roboto Black" panose="02000000000000000000" pitchFamily="2" charset="0"/>
                  <a:cs typeface="Segoe UI" panose="020B0502040204020203" pitchFamily="34" charset="0"/>
                </a:rPr>
                <a:t>GENOMIKS</a:t>
              </a:r>
            </a:p>
          </p:txBody>
        </p:sp>
      </p:grpSp>
      <p:pic>
        <p:nvPicPr>
          <p:cNvPr id="21" name="Picture 2" descr="https://www.sih.gov.in/img1/SIH-Logo.png">
            <a:extLst>
              <a:ext uri="{FF2B5EF4-FFF2-40B4-BE49-F238E27FC236}">
                <a16:creationId xmlns:a16="http://schemas.microsoft.com/office/drawing/2014/main" id="{8C3E750C-C5CA-4DDA-5261-FE9611D1A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8071" y="-26929"/>
            <a:ext cx="1939922" cy="98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1952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B3D97-9C6D-8147-7057-9B4D6D8F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FCB9CE3-2BBE-1B20-015B-ADB73A04782A}"/>
              </a:ext>
            </a:extLst>
          </p:cNvPr>
          <p:cNvSpPr/>
          <p:nvPr/>
        </p:nvSpPr>
        <p:spPr>
          <a:xfrm>
            <a:off x="77506" y="1033626"/>
            <a:ext cx="12033629" cy="5246618"/>
          </a:xfrm>
          <a:prstGeom prst="roundRect">
            <a:avLst>
              <a:gd name="adj" fmla="val 2609"/>
            </a:avLst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27179A-DE29-C366-5494-BBA9052C5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A8131F36-6B5D-A802-D71B-C27AE2A10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5215" y="110457"/>
            <a:ext cx="5882639" cy="785927"/>
          </a:xfrm>
        </p:spPr>
        <p:txBody>
          <a:bodyPr/>
          <a:lstStyle/>
          <a:p>
            <a:pPr eaLnBrk="1" hangingPunct="1"/>
            <a:r>
              <a:rPr lang="en-US" sz="4000" dirty="0">
                <a:solidFill>
                  <a:schemeClr val="tx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47183-11C3-32F2-5BBC-87E87F3FC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/>
              <a:t>3</a:t>
            </a:fld>
            <a:endParaRPr lang="en-US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94A73451-0AF2-24FD-8530-A0FBD127B565}"/>
              </a:ext>
            </a:extLst>
          </p:cNvPr>
          <p:cNvSpPr/>
          <p:nvPr/>
        </p:nvSpPr>
        <p:spPr>
          <a:xfrm>
            <a:off x="3732064" y="1122434"/>
            <a:ext cx="4724512" cy="406355"/>
          </a:xfrm>
          <a:prstGeom prst="roundRect">
            <a:avLst>
              <a:gd name="adj" fmla="val 26357"/>
            </a:avLst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Methodology &amp; Required Technologies</a:t>
            </a:r>
            <a:endParaRPr lang="en-IN" sz="2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19" name="Picture 2" descr="https://www.sih.gov.in/img1/SIH-Logo.png">
            <a:extLst>
              <a:ext uri="{FF2B5EF4-FFF2-40B4-BE49-F238E27FC236}">
                <a16:creationId xmlns:a16="http://schemas.microsoft.com/office/drawing/2014/main" id="{75379708-9DA4-FC0B-C761-A47770BC6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8071" y="-26929"/>
            <a:ext cx="1939922" cy="98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2995453-5012-C27F-85B3-34DCDBACC63E}"/>
              </a:ext>
            </a:extLst>
          </p:cNvPr>
          <p:cNvGrpSpPr/>
          <p:nvPr/>
        </p:nvGrpSpPr>
        <p:grpSpPr>
          <a:xfrm>
            <a:off x="77506" y="87441"/>
            <a:ext cx="1897493" cy="553158"/>
            <a:chOff x="329773" y="252246"/>
            <a:chExt cx="1897493" cy="553158"/>
          </a:xfrm>
        </p:grpSpPr>
        <p:sp>
          <p:nvSpPr>
            <p:cNvPr id="4" name="Oval 3" descr="Your startup LOGO">
              <a:extLst>
                <a:ext uri="{FF2B5EF4-FFF2-40B4-BE49-F238E27FC236}">
                  <a16:creationId xmlns:a16="http://schemas.microsoft.com/office/drawing/2014/main" id="{6936A4E5-B805-92B7-D30F-8E3B7451659F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329773" y="252246"/>
              <a:ext cx="1897493" cy="55315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073D49A-318C-C198-D285-C5C2E127AA2F}"/>
                </a:ext>
              </a:extLst>
            </p:cNvPr>
            <p:cNvSpPr txBox="1"/>
            <p:nvPr/>
          </p:nvSpPr>
          <p:spPr>
            <a:xfrm>
              <a:off x="466274" y="281708"/>
              <a:ext cx="1630360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IN" sz="2600" b="1" dirty="0">
                  <a:solidFill>
                    <a:schemeClr val="tx2">
                      <a:lumMod val="75000"/>
                    </a:schemeClr>
                  </a:solidFill>
                  <a:latin typeface="Big Shoulders Black" pitchFamily="2" charset="0"/>
                  <a:ea typeface="Roboto Black" panose="02000000000000000000" pitchFamily="2" charset="0"/>
                  <a:cs typeface="Segoe UI" panose="020B0502040204020203" pitchFamily="34" charset="0"/>
                </a:rPr>
                <a:t>GENOMIKS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9454F8E1-E2BB-589A-34CA-0A417669C0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0586" y="1500796"/>
            <a:ext cx="8637330" cy="4889312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4D51674-E7F5-4982-7089-F718894B56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462961"/>
              </p:ext>
            </p:extLst>
          </p:nvPr>
        </p:nvGraphicFramePr>
        <p:xfrm>
          <a:off x="8284923" y="1256703"/>
          <a:ext cx="3826211" cy="50163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26211">
                  <a:extLst>
                    <a:ext uri="{9D8B030D-6E8A-4147-A177-3AD203B41FA5}">
                      <a16:colId xmlns:a16="http://schemas.microsoft.com/office/drawing/2014/main" val="2804403936"/>
                    </a:ext>
                  </a:extLst>
                </a:gridCol>
              </a:tblGrid>
              <a:tr h="277805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Steps</a:t>
                      </a:r>
                      <a:endParaRPr lang="en-IN" b="1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05627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Input: </a:t>
                      </a:r>
                      <a:r>
                        <a:rPr lang="en-US" sz="14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 developer's program code (e.g., C++) is compiled using a standard compiler.</a:t>
                      </a:r>
                      <a:endParaRPr lang="en-IN" sz="14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32241600"/>
                  </a:ext>
                </a:extLst>
              </a:tr>
              <a:tr h="738837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IN" sz="1400" b="1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Transformation: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The compiled code is sent to our tool. Our tool, powered by LLVM, applies a series of obfuscation techniques.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01516373"/>
                  </a:ext>
                </a:extLst>
              </a:tr>
              <a:tr h="738837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Customization: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The developer can use a configuration file (JSON/TOML) to choose which obfuscation techniques to use. This allows them to balance security with performance.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9434422"/>
                  </a:ext>
                </a:extLst>
              </a:tr>
              <a:tr h="28880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Verification: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The tool then automatically checks if the obfuscated code still works correctly.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95751233"/>
                  </a:ext>
                </a:extLst>
              </a:tr>
              <a:tr h="55892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Output: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A secure, hardened executable is produced, ready for deployment.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4690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Continuous Integration (CI):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The entire process can be automated within a CI pipeline (GitHub Actions), ensuring every new code change is protected.</a:t>
                      </a:r>
                      <a:endParaRPr lang="en-IN" sz="1400" kern="120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0475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10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679969" y="192100"/>
            <a:ext cx="6832060" cy="503238"/>
          </a:xfrm>
        </p:spPr>
        <p:txBody>
          <a:bodyPr/>
          <a:lstStyle/>
          <a:p>
            <a:pPr eaLnBrk="1" hangingPunct="1"/>
            <a:r>
              <a:rPr lang="en-US" sz="4000" dirty="0">
                <a:solidFill>
                  <a:schemeClr val="tx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4" name="Picture 2" descr="https://www.sih.gov.in/img1/SIH-Logo.png">
            <a:extLst>
              <a:ext uri="{FF2B5EF4-FFF2-40B4-BE49-F238E27FC236}">
                <a16:creationId xmlns:a16="http://schemas.microsoft.com/office/drawing/2014/main" id="{5F6FCA6D-7004-413B-539B-4CA3583F55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8071" y="-26929"/>
            <a:ext cx="1939922" cy="98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336C78E6-6787-0EE5-9FC1-348490E3A6DE}"/>
              </a:ext>
            </a:extLst>
          </p:cNvPr>
          <p:cNvGrpSpPr/>
          <p:nvPr/>
        </p:nvGrpSpPr>
        <p:grpSpPr>
          <a:xfrm>
            <a:off x="193040" y="986039"/>
            <a:ext cx="4064000" cy="5232202"/>
            <a:chOff x="193040" y="1147731"/>
            <a:chExt cx="4064000" cy="5070509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805ED8F-6B32-04EC-3B76-DFE378679D02}"/>
                </a:ext>
              </a:extLst>
            </p:cNvPr>
            <p:cNvSpPr/>
            <p:nvPr/>
          </p:nvSpPr>
          <p:spPr>
            <a:xfrm>
              <a:off x="193040" y="1147731"/>
              <a:ext cx="4064000" cy="5070509"/>
            </a:xfrm>
            <a:prstGeom prst="roundRect">
              <a:avLst>
                <a:gd name="adj" fmla="val 1639"/>
              </a:avLst>
            </a:prstGeom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94297C6-9021-0B7B-41DD-93DC60C7C6F0}"/>
                </a:ext>
              </a:extLst>
            </p:cNvPr>
            <p:cNvSpPr txBox="1"/>
            <p:nvPr/>
          </p:nvSpPr>
          <p:spPr>
            <a:xfrm>
              <a:off x="193040" y="1682731"/>
              <a:ext cx="4064000" cy="25054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b="1" dirty="0">
                  <a:latin typeface="Roboto" panose="02000000000000000000" pitchFamily="2" charset="0"/>
                  <a:ea typeface="Roboto" panose="02000000000000000000" pitchFamily="2" charset="0"/>
                </a:rPr>
                <a:t>Technically Feasible: </a:t>
              </a:r>
              <a:r>
                <a:rPr lang="en-IN" dirty="0">
                  <a:latin typeface="Roboto" panose="02000000000000000000" pitchFamily="2" charset="0"/>
                  <a:ea typeface="Roboto" panose="02000000000000000000" pitchFamily="2" charset="0"/>
                </a:rPr>
                <a:t>The solution is built on the open-source LLVM framework, which already provides the necessary tools and modular passes for development.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b="1" dirty="0">
                  <a:latin typeface="Roboto" panose="02000000000000000000" pitchFamily="2" charset="0"/>
                  <a:ea typeface="Roboto" panose="02000000000000000000" pitchFamily="2" charset="0"/>
                </a:rPr>
                <a:t>Cost-Effective: </a:t>
              </a:r>
              <a:r>
                <a:rPr lang="en-IN" dirty="0">
                  <a:latin typeface="Roboto" panose="02000000000000000000" pitchFamily="2" charset="0"/>
                  <a:ea typeface="Roboto" panose="02000000000000000000" pitchFamily="2" charset="0"/>
                </a:rPr>
                <a:t>It utilizes free, standard tools like Clang, </a:t>
              </a:r>
              <a:r>
                <a:rPr lang="en-IN" dirty="0" err="1">
                  <a:latin typeface="Roboto" panose="02000000000000000000" pitchFamily="2" charset="0"/>
                  <a:ea typeface="Roboto" panose="02000000000000000000" pitchFamily="2" charset="0"/>
                </a:rPr>
                <a:t>CMake</a:t>
              </a:r>
              <a:r>
                <a:rPr lang="en-IN" dirty="0">
                  <a:latin typeface="Roboto" panose="02000000000000000000" pitchFamily="2" charset="0"/>
                  <a:ea typeface="Roboto" panose="02000000000000000000" pitchFamily="2" charset="0"/>
                </a:rPr>
                <a:t>, and GitHub CI, keeping development costs low.</a:t>
              </a:r>
            </a:p>
          </p:txBody>
        </p:sp>
      </p:grp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2181EA3-36C0-D344-83A0-70EBB1D3CE09}"/>
              </a:ext>
            </a:extLst>
          </p:cNvPr>
          <p:cNvSpPr/>
          <p:nvPr/>
        </p:nvSpPr>
        <p:spPr>
          <a:xfrm>
            <a:off x="4409440" y="988812"/>
            <a:ext cx="7589520" cy="5232202"/>
          </a:xfrm>
          <a:prstGeom prst="roundRect">
            <a:avLst>
              <a:gd name="adj" fmla="val 1639"/>
            </a:avLst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DFE7CC-4680-D4E1-E304-B0EC133B0947}"/>
              </a:ext>
            </a:extLst>
          </p:cNvPr>
          <p:cNvSpPr txBox="1"/>
          <p:nvPr/>
        </p:nvSpPr>
        <p:spPr>
          <a:xfrm>
            <a:off x="4516656" y="1567414"/>
            <a:ext cx="5190283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Potential Challenges and Solutions:</a:t>
            </a:r>
          </a:p>
          <a:p>
            <a:endParaRPr lang="en-US" sz="1400" b="1" dirty="0">
              <a:solidFill>
                <a:schemeClr val="tx2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rgbClr val="82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Problem: </a:t>
            </a:r>
            <a:r>
              <a:rPr lang="en-IN" dirty="0">
                <a:latin typeface="Roboto Medium" panose="02000000000000000000" pitchFamily="2" charset="0"/>
                <a:ea typeface="Roboto Medium" panose="02000000000000000000" pitchFamily="2" charset="0"/>
              </a:rPr>
              <a:t>Complexity of LLVM internals.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456A2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Solution: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Starting with simple, well-tested passes.</a:t>
            </a:r>
          </a:p>
          <a:p>
            <a:endParaRPr lang="en-US" dirty="0">
              <a:latin typeface="Roboto Medium" panose="02000000000000000000" pitchFamily="2" charset="0"/>
              <a:ea typeface="Roboto Medium" panose="020000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rgbClr val="82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Problem: </a:t>
            </a:r>
            <a:r>
              <a:rPr lang="en-IN" dirty="0">
                <a:latin typeface="Roboto Medium" panose="02000000000000000000" pitchFamily="2" charset="0"/>
                <a:ea typeface="Roboto Medium" panose="02000000000000000000" pitchFamily="2" charset="0"/>
              </a:rPr>
              <a:t>Maintaining functional correctness.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b="1" dirty="0">
                <a:solidFill>
                  <a:srgbClr val="456A2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Solution: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Integrating regression tests and differential testing to ensure correctness after obfuscation</a:t>
            </a: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</a:rPr>
              <a:t>.</a:t>
            </a:r>
          </a:p>
          <a:p>
            <a:endParaRPr lang="en-IN" dirty="0">
              <a:latin typeface="Roboto Medium" panose="02000000000000000000" pitchFamily="2" charset="0"/>
              <a:ea typeface="Roboto Medium" panose="02000000000000000000" pitchFamily="2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82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Problem: </a:t>
            </a: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</a:rPr>
              <a:t>Security metrics &amp; simulation.</a:t>
            </a:r>
            <a:br>
              <a:rPr lang="en-US" dirty="0">
                <a:latin typeface="Roboto Medium" panose="02000000000000000000" pitchFamily="2" charset="0"/>
                <a:ea typeface="Roboto Medium" panose="02000000000000000000" pitchFamily="2" charset="0"/>
              </a:rPr>
            </a:br>
            <a:r>
              <a:rPr lang="en-US" b="1" dirty="0">
                <a:solidFill>
                  <a:srgbClr val="456A2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Solution: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Using static-analysis tools (radare2,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</a:rPr>
              <a:t>Ghidra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) to measure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</a:rPr>
              <a:t>decompilation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 difficulty and resilience scores.</a:t>
            </a:r>
            <a:endParaRPr lang="en-IN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3FE2B73-46BE-20D1-9327-02617B7C1B09}"/>
              </a:ext>
            </a:extLst>
          </p:cNvPr>
          <p:cNvSpPr/>
          <p:nvPr/>
        </p:nvSpPr>
        <p:spPr>
          <a:xfrm>
            <a:off x="284480" y="1064203"/>
            <a:ext cx="3891280" cy="427820"/>
          </a:xfrm>
          <a:prstGeom prst="roundRect">
            <a:avLst>
              <a:gd name="adj" fmla="val 19042"/>
            </a:avLst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FEASIBILITY ANALYSIS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DF4534B-9AEB-6EF9-C3E2-F7B1B85090E2}"/>
              </a:ext>
            </a:extLst>
          </p:cNvPr>
          <p:cNvSpPr/>
          <p:nvPr/>
        </p:nvSpPr>
        <p:spPr>
          <a:xfrm>
            <a:off x="4500881" y="1064203"/>
            <a:ext cx="7418814" cy="427820"/>
          </a:xfrm>
          <a:prstGeom prst="roundRect">
            <a:avLst>
              <a:gd name="adj" fmla="val 19042"/>
            </a:avLst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</a:t>
            </a:r>
            <a:r>
              <a:rPr lang="en-IN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IABILITY ANALYSIS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F53EEAD-3DCA-1F9C-083D-FDE39CA6AA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142" b="18455"/>
          <a:stretch>
            <a:fillRect/>
          </a:stretch>
        </p:blipFill>
        <p:spPr>
          <a:xfrm>
            <a:off x="9696512" y="1959157"/>
            <a:ext cx="1970340" cy="124294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C00871A-E3D4-FD2A-6568-3DFB54F65FE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5835" b="26540"/>
          <a:stretch>
            <a:fillRect/>
          </a:stretch>
        </p:blipFill>
        <p:spPr>
          <a:xfrm>
            <a:off x="9709479" y="4579936"/>
            <a:ext cx="1957373" cy="102838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0E4543E-353F-23F6-93C2-398C5A75108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6516" b="17505"/>
          <a:stretch>
            <a:fillRect/>
          </a:stretch>
        </p:blipFill>
        <p:spPr>
          <a:xfrm>
            <a:off x="9706939" y="3270361"/>
            <a:ext cx="1970340" cy="123418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7B1192B-9AB2-DC57-B7D5-12F14783B9DA}"/>
              </a:ext>
            </a:extLst>
          </p:cNvPr>
          <p:cNvGrpSpPr/>
          <p:nvPr/>
        </p:nvGrpSpPr>
        <p:grpSpPr>
          <a:xfrm>
            <a:off x="77506" y="87441"/>
            <a:ext cx="1897493" cy="553158"/>
            <a:chOff x="329773" y="252246"/>
            <a:chExt cx="1897493" cy="553158"/>
          </a:xfrm>
        </p:grpSpPr>
        <p:sp>
          <p:nvSpPr>
            <p:cNvPr id="8" name="Oval 7" descr="Your startup LOGO">
              <a:extLst>
                <a:ext uri="{FF2B5EF4-FFF2-40B4-BE49-F238E27FC236}">
                  <a16:creationId xmlns:a16="http://schemas.microsoft.com/office/drawing/2014/main" id="{6B9B67D9-DBF0-36D3-1850-7C62D37CE1F1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329773" y="252246"/>
              <a:ext cx="1897493" cy="55315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C973091-672E-5EC0-A4B0-0B31D3C02F1D}"/>
                </a:ext>
              </a:extLst>
            </p:cNvPr>
            <p:cNvSpPr txBox="1"/>
            <p:nvPr/>
          </p:nvSpPr>
          <p:spPr>
            <a:xfrm>
              <a:off x="466274" y="281708"/>
              <a:ext cx="1630360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IN" sz="2600" b="1" dirty="0">
                  <a:solidFill>
                    <a:schemeClr val="tx2">
                      <a:lumMod val="75000"/>
                    </a:schemeClr>
                  </a:solidFill>
                  <a:latin typeface="Big Shoulders Black" pitchFamily="2" charset="0"/>
                  <a:ea typeface="Roboto Black" panose="02000000000000000000" pitchFamily="2" charset="0"/>
                  <a:cs typeface="Segoe UI" panose="020B0502040204020203" pitchFamily="34" charset="0"/>
                </a:rPr>
                <a:t>GENOMIKS</a:t>
              </a: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FBE4E1F3-8AE3-5A1B-F5EF-E262091AF5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329" y="4232002"/>
            <a:ext cx="3834433" cy="1877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00798"/>
            <a:ext cx="12191999" cy="457201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619365" y="204935"/>
            <a:ext cx="6759756" cy="502414"/>
          </a:xfrm>
        </p:spPr>
        <p:txBody>
          <a:bodyPr/>
          <a:lstStyle/>
          <a:p>
            <a:pPr eaLnBrk="1" hangingPunct="1"/>
            <a:r>
              <a:rPr lang="en-US" sz="4200" b="1" dirty="0">
                <a:solidFill>
                  <a:schemeClr val="tx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Times New Roman" panose="02020603050405020304" pitchFamily="18" charset="0"/>
              </a:rPr>
              <a:t>IMPACTS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47052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5E9FBA-FB11-A981-A276-52A53414B854}"/>
              </a:ext>
            </a:extLst>
          </p:cNvPr>
          <p:cNvSpPr txBox="1"/>
          <p:nvPr/>
        </p:nvSpPr>
        <p:spPr>
          <a:xfrm>
            <a:off x="1421385" y="1463243"/>
            <a:ext cx="4184365" cy="1414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1900" b="1" kern="100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Software Product Teams &amp; Startups:</a:t>
            </a:r>
            <a:r>
              <a:rPr lang="en-IN" sz="1900" dirty="0"/>
              <a:t> </a:t>
            </a:r>
            <a:r>
              <a:rPr lang="en-IN" sz="1900" kern="1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Protects intellectual property (IP), such as proprietary algorithms, and minimizes the risk of IP theft.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E58C86A-EED3-155B-943A-67177F8778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44" t="21129" r="16090" b="21576"/>
          <a:stretch>
            <a:fillRect/>
          </a:stretch>
        </p:blipFill>
        <p:spPr>
          <a:xfrm>
            <a:off x="327252" y="1667279"/>
            <a:ext cx="1064117" cy="91452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70C5300-7FFA-8C8F-FAAC-0BAE790D07CC}"/>
              </a:ext>
            </a:extLst>
          </p:cNvPr>
          <p:cNvSpPr txBox="1"/>
          <p:nvPr/>
        </p:nvSpPr>
        <p:spPr>
          <a:xfrm>
            <a:off x="1439175" y="3037252"/>
            <a:ext cx="3858249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900" b="1" kern="100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Enterprise Engineering / R&amp;D: </a:t>
            </a:r>
            <a:r>
              <a:rPr lang="en-IN" sz="1900" kern="1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Hardens software before distribution, enhancing security for released products.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69403F-46E7-5266-4492-98C438ECA059}"/>
              </a:ext>
            </a:extLst>
          </p:cNvPr>
          <p:cNvSpPr txBox="1"/>
          <p:nvPr/>
        </p:nvSpPr>
        <p:spPr>
          <a:xfrm>
            <a:off x="1473266" y="4441108"/>
            <a:ext cx="3492489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1900" b="1" kern="100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DevOps / CI Teams: </a:t>
            </a:r>
            <a:br>
              <a:rPr lang="en-IN" sz="1900" b="1" kern="100" dirty="0">
                <a:solidFill>
                  <a:schemeClr val="accent6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</a:br>
            <a:r>
              <a:rPr lang="en-IN" sz="1900" dirty="0"/>
              <a:t>Integrates smoothly into existing build processes for automated and consistent security.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EB3A3D0-8D37-DDF2-1A51-ED9027630E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675" t="16023" r="10675" b="17662"/>
          <a:stretch>
            <a:fillRect/>
          </a:stretch>
        </p:blipFill>
        <p:spPr>
          <a:xfrm>
            <a:off x="327252" y="3226861"/>
            <a:ext cx="990844" cy="835452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4CE3A77-27F4-2D59-8CBB-50CF2581249C}"/>
              </a:ext>
            </a:extLst>
          </p:cNvPr>
          <p:cNvCxnSpPr>
            <a:cxnSpLocks/>
          </p:cNvCxnSpPr>
          <p:nvPr/>
        </p:nvCxnSpPr>
        <p:spPr>
          <a:xfrm flipH="1">
            <a:off x="5802496" y="986038"/>
            <a:ext cx="20320" cy="530166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CDA96B4-9AA0-D3DE-C08D-5C0E03932FD3}"/>
              </a:ext>
            </a:extLst>
          </p:cNvPr>
          <p:cNvSpPr txBox="1"/>
          <p:nvPr/>
        </p:nvSpPr>
        <p:spPr>
          <a:xfrm>
            <a:off x="7323066" y="1453549"/>
            <a:ext cx="48282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000" b="1" kern="100" dirty="0">
                <a:solidFill>
                  <a:schemeClr val="accent3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Protects Innovation: </a:t>
            </a:r>
          </a:p>
          <a:p>
            <a:pPr lvl="0"/>
            <a:r>
              <a:rPr lang="en-IN" sz="1700" kern="1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Safeguards proprietary algorithms, preserving competitive advantage and reducing plagiarism.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C4BE60C-2F56-2E53-FB19-031CB335619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460" r="-1766"/>
          <a:stretch>
            <a:fillRect/>
          </a:stretch>
        </p:blipFill>
        <p:spPr>
          <a:xfrm>
            <a:off x="6030147" y="3821590"/>
            <a:ext cx="1321189" cy="859506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98B94798-0B13-DF59-3540-93868C89DA1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60034" y="5066669"/>
            <a:ext cx="1225208" cy="795837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3D85CFB-2C75-7C6E-C129-4A30DB8EB4F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171635" y="2690473"/>
            <a:ext cx="1002007" cy="730629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0D0AC4ED-3035-AB75-D719-9F47371C903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140322" y="1529787"/>
            <a:ext cx="1075846" cy="8636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47856F-78E1-D077-40C5-E3AFC0F9AB85}"/>
              </a:ext>
            </a:extLst>
          </p:cNvPr>
          <p:cNvSpPr txBox="1"/>
          <p:nvPr/>
        </p:nvSpPr>
        <p:spPr>
          <a:xfrm>
            <a:off x="7312135" y="4841156"/>
            <a:ext cx="462349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000" b="1" kern="100" dirty="0">
                <a:solidFill>
                  <a:schemeClr val="accent3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Sustainable &amp; Efficient: </a:t>
            </a:r>
            <a:br>
              <a:rPr lang="en-IN" sz="2000" b="1" kern="100" dirty="0">
                <a:solidFill>
                  <a:schemeClr val="accent3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</a:br>
            <a:r>
              <a:rPr lang="en-IN" sz="1700" kern="1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Operates with low energy consumption on standard hardware and can reduce the need for specialized, resource-intensive anti-tamper hardware.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87D694-C151-7BAD-39C5-E4FE870CEE4F}"/>
              </a:ext>
            </a:extLst>
          </p:cNvPr>
          <p:cNvSpPr txBox="1"/>
          <p:nvPr/>
        </p:nvSpPr>
        <p:spPr>
          <a:xfrm>
            <a:off x="7338616" y="3521107"/>
            <a:ext cx="4670689" cy="1328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n-IN" sz="2000" b="1" kern="100" dirty="0">
                <a:solidFill>
                  <a:schemeClr val="accent3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Ethical Security: </a:t>
            </a:r>
            <a:br>
              <a:rPr lang="en-IN" sz="2000" b="1" kern="100" dirty="0">
                <a:solidFill>
                  <a:schemeClr val="accent3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</a:br>
            <a:r>
              <a:rPr lang="en-IN" sz="1700" kern="1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Provides an affordable, transparent tool that supports local industry and promotes ethical security practices.</a:t>
            </a:r>
            <a:endParaRPr lang="en-US" sz="1700" kern="100" dirty="0"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8EC5AF-26CC-CF5D-6320-5DE6DB439404}"/>
              </a:ext>
            </a:extLst>
          </p:cNvPr>
          <p:cNvSpPr txBox="1"/>
          <p:nvPr/>
        </p:nvSpPr>
        <p:spPr>
          <a:xfrm>
            <a:off x="7323066" y="2381131"/>
            <a:ext cx="493519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kern="100" dirty="0">
                <a:solidFill>
                  <a:schemeClr val="accent3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Economic Value:</a:t>
            </a:r>
          </a:p>
          <a:p>
            <a:r>
              <a:rPr lang="en-IN" sz="1700" kern="1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Prevents revenue loss from piracy and cloning, and lowers the cost of security compared to expensive proprietary solutions.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54DD21E-A878-53E0-96A0-6FF0FE7B6BDB}"/>
              </a:ext>
            </a:extLst>
          </p:cNvPr>
          <p:cNvSpPr/>
          <p:nvPr/>
        </p:nvSpPr>
        <p:spPr>
          <a:xfrm>
            <a:off x="285138" y="998914"/>
            <a:ext cx="5457328" cy="427820"/>
          </a:xfrm>
          <a:prstGeom prst="roundRect">
            <a:avLst>
              <a:gd name="adj" fmla="val 22604"/>
            </a:avLst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6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IMPACTS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3CA4D87-8105-ECEE-32D9-DA90FD0B5715}"/>
              </a:ext>
            </a:extLst>
          </p:cNvPr>
          <p:cNvSpPr/>
          <p:nvPr/>
        </p:nvSpPr>
        <p:spPr>
          <a:xfrm>
            <a:off x="5894866" y="995494"/>
            <a:ext cx="6033990" cy="427820"/>
          </a:xfrm>
          <a:prstGeom prst="roundRect">
            <a:avLst>
              <a:gd name="adj" fmla="val 20823"/>
            </a:avLst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6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BENEFITS</a:t>
            </a:r>
          </a:p>
        </p:txBody>
      </p:sp>
      <p:pic>
        <p:nvPicPr>
          <p:cNvPr id="2" name="Picture 2" descr="https://www.sih.gov.in/img1/SIH-Logo.png">
            <a:extLst>
              <a:ext uri="{FF2B5EF4-FFF2-40B4-BE49-F238E27FC236}">
                <a16:creationId xmlns:a16="http://schemas.microsoft.com/office/drawing/2014/main" id="{FE756E4F-6AFF-59D1-13D3-3F6617B48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8071" y="-26929"/>
            <a:ext cx="1939922" cy="98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20EA3563-3287-3063-7B9F-EC999F73CC60}"/>
              </a:ext>
            </a:extLst>
          </p:cNvPr>
          <p:cNvGrpSpPr/>
          <p:nvPr/>
        </p:nvGrpSpPr>
        <p:grpSpPr>
          <a:xfrm>
            <a:off x="77506" y="87441"/>
            <a:ext cx="1897493" cy="553158"/>
            <a:chOff x="329773" y="252246"/>
            <a:chExt cx="1897493" cy="553158"/>
          </a:xfrm>
        </p:grpSpPr>
        <p:sp>
          <p:nvSpPr>
            <p:cNvPr id="5" name="Oval 4" descr="Your startup LOGO">
              <a:extLst>
                <a:ext uri="{FF2B5EF4-FFF2-40B4-BE49-F238E27FC236}">
                  <a16:creationId xmlns:a16="http://schemas.microsoft.com/office/drawing/2014/main" id="{7104C7F5-EAC2-E49F-3262-D7972C088761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329773" y="252246"/>
              <a:ext cx="1897493" cy="55315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DA0D8BC-4D60-23D4-DCED-D2D7E2F80E2F}"/>
                </a:ext>
              </a:extLst>
            </p:cNvPr>
            <p:cNvSpPr txBox="1"/>
            <p:nvPr/>
          </p:nvSpPr>
          <p:spPr>
            <a:xfrm>
              <a:off x="466274" y="281708"/>
              <a:ext cx="1630360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IN" sz="2600" b="1" dirty="0">
                  <a:solidFill>
                    <a:schemeClr val="tx2">
                      <a:lumMod val="75000"/>
                    </a:schemeClr>
                  </a:solidFill>
                  <a:latin typeface="Big Shoulders Black" pitchFamily="2" charset="0"/>
                  <a:ea typeface="Roboto Black" panose="02000000000000000000" pitchFamily="2" charset="0"/>
                  <a:cs typeface="Segoe UI" panose="020B0502040204020203" pitchFamily="34" charset="0"/>
                </a:rPr>
                <a:t>GENOMIKS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128E63E5-B3D2-0BA7-5E0E-C7CDC82461D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9055" t="19393" r="18825" b="28331"/>
          <a:stretch>
            <a:fillRect/>
          </a:stretch>
        </p:blipFill>
        <p:spPr>
          <a:xfrm>
            <a:off x="285138" y="4539951"/>
            <a:ext cx="1137590" cy="957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350459" y="227427"/>
            <a:ext cx="7312152" cy="553158"/>
          </a:xfrm>
        </p:spPr>
        <p:txBody>
          <a:bodyPr/>
          <a:lstStyle/>
          <a:p>
            <a:pPr eaLnBrk="1" hangingPunct="1"/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DA2555A2-1C29-DBC2-870E-316137ECBD32}"/>
              </a:ext>
            </a:extLst>
          </p:cNvPr>
          <p:cNvSpPr/>
          <p:nvPr/>
        </p:nvSpPr>
        <p:spPr>
          <a:xfrm>
            <a:off x="2452059" y="1880631"/>
            <a:ext cx="7108952" cy="2389618"/>
          </a:xfrm>
          <a:prstGeom prst="roundRect">
            <a:avLst>
              <a:gd name="adj" fmla="val 7107"/>
            </a:avLst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Roboto Medium" panose="02000000000000000000" pitchFamily="2" charset="0"/>
                <a:ea typeface="Roboto Medium" panose="02000000000000000000" pitchFamily="2" charset="0"/>
              </a:rPr>
              <a:t>Obfuscator-LLVM:</a:t>
            </a:r>
            <a:r>
              <a:rPr lang="en-IN" sz="24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br>
              <a:rPr lang="en-IN" sz="24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n-IN" sz="2400" u="sng" dirty="0">
                <a:latin typeface="Roboto" panose="02000000000000000000" pitchFamily="2" charset="0"/>
                <a:ea typeface="Roboto" panose="02000000000000000000" pitchFamily="2" charset="0"/>
                <a:hlinkClick r:id="rId3"/>
              </a:rPr>
              <a:t>https://github.com/obfuscator-llvm/obfuscator</a:t>
            </a:r>
            <a:r>
              <a:rPr lang="en-IN" sz="2400" dirty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Roboto Medium" panose="02000000000000000000" pitchFamily="2" charset="0"/>
                <a:ea typeface="Roboto Medium" panose="02000000000000000000" pitchFamily="2" charset="0"/>
              </a:rPr>
              <a:t>OLLVM: </a:t>
            </a:r>
            <a:br>
              <a:rPr lang="en-IN" sz="2400" dirty="0">
                <a:latin typeface="Roboto Medium" panose="02000000000000000000" pitchFamily="2" charset="0"/>
                <a:ea typeface="Roboto Medium" panose="02000000000000000000" pitchFamily="2" charset="0"/>
              </a:rPr>
            </a:br>
            <a:r>
              <a:rPr lang="en-IN" sz="2400" u="sng" dirty="0">
                <a:latin typeface="Roboto" panose="02000000000000000000" pitchFamily="2" charset="0"/>
                <a:ea typeface="Roboto" panose="02000000000000000000" pitchFamily="2" charset="0"/>
                <a:hlinkClick r:id="rId4"/>
              </a:rPr>
              <a:t>https://github.com/wwh1004/ollvm-16</a:t>
            </a:r>
            <a:r>
              <a:rPr lang="en-IN" sz="2400" dirty="0">
                <a:latin typeface="Roboto" panose="02000000000000000000" pitchFamily="2" charset="0"/>
                <a:ea typeface="Roboto" panose="02000000000000000000" pitchFamily="2" charset="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Roboto Medium" panose="02000000000000000000" pitchFamily="2" charset="0"/>
                <a:ea typeface="Roboto Medium" panose="02000000000000000000" pitchFamily="2" charset="0"/>
              </a:rPr>
              <a:t>Obfuscator-pass: </a:t>
            </a:r>
            <a:br>
              <a:rPr lang="en-IN" sz="2400" dirty="0">
                <a:latin typeface="Roboto Medium" panose="02000000000000000000" pitchFamily="2" charset="0"/>
                <a:ea typeface="Roboto Medium" panose="02000000000000000000" pitchFamily="2" charset="0"/>
              </a:rPr>
            </a:br>
            <a:r>
              <a:rPr lang="en-IN" sz="2400" u="sng" dirty="0">
                <a:latin typeface="Roboto" panose="02000000000000000000" pitchFamily="2" charset="0"/>
                <a:ea typeface="Roboto" panose="02000000000000000000" pitchFamily="2" charset="0"/>
                <a:hlinkClick r:id="rId5"/>
              </a:rPr>
              <a:t>https://github.com/Yuerino/obfuscator-pass</a:t>
            </a:r>
            <a:r>
              <a:rPr lang="en-IN" sz="2400" dirty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pic>
        <p:nvPicPr>
          <p:cNvPr id="24" name="Picture 2" descr="https://www.sih.gov.in/img1/SIH-Logo.png">
            <a:extLst>
              <a:ext uri="{FF2B5EF4-FFF2-40B4-BE49-F238E27FC236}">
                <a16:creationId xmlns:a16="http://schemas.microsoft.com/office/drawing/2014/main" id="{4998B946-FD2D-F35D-287A-506EA3BD54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8071" y="-26929"/>
            <a:ext cx="1939922" cy="98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5B64A07-40EE-D160-BD6A-AC4873F7BFBC}"/>
              </a:ext>
            </a:extLst>
          </p:cNvPr>
          <p:cNvGrpSpPr/>
          <p:nvPr/>
        </p:nvGrpSpPr>
        <p:grpSpPr>
          <a:xfrm>
            <a:off x="77506" y="87441"/>
            <a:ext cx="1897493" cy="553158"/>
            <a:chOff x="329773" y="252246"/>
            <a:chExt cx="1897493" cy="553158"/>
          </a:xfrm>
        </p:grpSpPr>
        <p:sp>
          <p:nvSpPr>
            <p:cNvPr id="4" name="Oval 3" descr="Your startup LOGO">
              <a:extLst>
                <a:ext uri="{FF2B5EF4-FFF2-40B4-BE49-F238E27FC236}">
                  <a16:creationId xmlns:a16="http://schemas.microsoft.com/office/drawing/2014/main" id="{CD8E2F2D-4BB6-4990-6819-8AA8CB3D1168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329773" y="252246"/>
              <a:ext cx="1897493" cy="55315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8D9D527-2953-8249-8C38-4AF53559A09E}"/>
                </a:ext>
              </a:extLst>
            </p:cNvPr>
            <p:cNvSpPr txBox="1"/>
            <p:nvPr/>
          </p:nvSpPr>
          <p:spPr>
            <a:xfrm>
              <a:off x="466274" y="281708"/>
              <a:ext cx="1630360" cy="49244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IN" sz="2600" b="1" dirty="0">
                  <a:solidFill>
                    <a:schemeClr val="tx2">
                      <a:lumMod val="75000"/>
                    </a:schemeClr>
                  </a:solidFill>
                  <a:latin typeface="Big Shoulders Black" pitchFamily="2" charset="0"/>
                  <a:ea typeface="Roboto Black" panose="02000000000000000000" pitchFamily="2" charset="0"/>
                  <a:cs typeface="Segoe UI" panose="020B0502040204020203" pitchFamily="34" charset="0"/>
                </a:rPr>
                <a:t>GENOMIKS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11590</TotalTime>
  <Words>645</Words>
  <Application>Microsoft Office PowerPoint</Application>
  <PresentationFormat>Widescreen</PresentationFormat>
  <Paragraphs>72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Wingdings</vt:lpstr>
      <vt:lpstr>ＭＳ Ｐゴシック</vt:lpstr>
      <vt:lpstr>Arial</vt:lpstr>
      <vt:lpstr>Roboto Black</vt:lpstr>
      <vt:lpstr>Calibri</vt:lpstr>
      <vt:lpstr>Big Shoulders Black</vt:lpstr>
      <vt:lpstr>TradeGothic</vt:lpstr>
      <vt:lpstr>Roboto</vt:lpstr>
      <vt:lpstr>Roboto Medium</vt:lpstr>
      <vt:lpstr>Office Theme</vt:lpstr>
      <vt:lpstr>SMART INDIA HACKATHON 2025</vt:lpstr>
      <vt:lpstr>APPLICATION SOFTWARE TO OBFUSCATE THE OBJECT  FILE USING LOW LEVEL VIRTUAL MACHINE (LLVM)</vt:lpstr>
      <vt:lpstr>TECHNICAL APPROACH</vt:lpstr>
      <vt:lpstr>FEASIBILITY AND VIABILITY</vt:lpstr>
      <vt:lpstr>IMPACTS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Rounak</dc:creator>
  <cp:keywords/>
  <dc:description/>
  <cp:lastModifiedBy>Rounak Jaiswal</cp:lastModifiedBy>
  <cp:revision>183</cp:revision>
  <dcterms:created xsi:type="dcterms:W3CDTF">2013-12-12T18:46:50Z</dcterms:created>
  <dcterms:modified xsi:type="dcterms:W3CDTF">2025-10-10T07:59:14Z</dcterms:modified>
  <cp:category/>
</cp:coreProperties>
</file>